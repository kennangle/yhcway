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0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2"/>
    <p:restoredTop sz="94663"/>
  </p:normalViewPr>
  <p:slideViewPr>
    <p:cSldViewPr snapToGrid="0">
      <p:cViewPr varScale="1">
        <p:scale>
          <a:sx n="147" d="100"/>
          <a:sy n="147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1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7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70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6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7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9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4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24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82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20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01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2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30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B6E788C-E886-6142-9D55-4C3FC090561B}" type="datetimeFigureOut">
              <a:rPr lang="en-US" smtClean="0"/>
              <a:t>1/13/26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F0FAF73-A29B-394B-8D5A-6DD48C0BF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3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8C5812-1102-E7D0-3101-CE34D660A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1 — ORIENTATION &amp; PURPOSE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88DE94E-BFCC-A713-38EF-193FEC4AF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6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1887-5205-F44D-0925-A20A43D21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036838"/>
          </a:xfrm>
        </p:spPr>
        <p:txBody>
          <a:bodyPr/>
          <a:lstStyle/>
          <a:p>
            <a:r>
              <a:rPr lang="en-US" dirty="0"/>
              <a:t>The YHC Way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BF627-345F-DBDE-AAB5-210AA088D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Management Operating System</a:t>
            </a:r>
          </a:p>
          <a:p>
            <a:r>
              <a:rPr lang="en-US" dirty="0"/>
              <a:t>Work unified. Work smarter. Lead with clarity.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2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AE18-5972-307F-B185-4B47D957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YHC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B69DD-9E3B-FEFC-B944-9AFCB4D2D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unified workspace designed for how Yoga Health Center actually operates.</a:t>
            </a:r>
          </a:p>
          <a:p>
            <a:r>
              <a:rPr lang="en-US" dirty="0"/>
              <a:t>One cockpit for communication, scheduling, tasks, projects, and analytics</a:t>
            </a:r>
          </a:p>
          <a:p>
            <a:r>
              <a:rPr lang="en-US" dirty="0"/>
              <a:t>One source of truth for decisions, follow‑through, and accountability</a:t>
            </a:r>
          </a:p>
          <a:p>
            <a:r>
              <a:rPr lang="en-US" dirty="0"/>
              <a:t>One operating rhythm for the GM and owners</a:t>
            </a:r>
          </a:p>
          <a:p>
            <a:r>
              <a:rPr lang="en-US" dirty="0"/>
              <a:t>Accessible anywhere — desktop, mobile, Chrome extension</a:t>
            </a:r>
          </a:p>
          <a:p>
            <a:r>
              <a:rPr lang="en-US" dirty="0"/>
              <a:t>Purpose: Reduce chaos, increase execution speed, and drive predictable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27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9557-E217-F04A-4FAC-0F170E78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53143"/>
            <a:ext cx="8761413" cy="1110343"/>
          </a:xfrm>
        </p:spPr>
        <p:txBody>
          <a:bodyPr/>
          <a:lstStyle/>
          <a:p>
            <a:r>
              <a:rPr lang="en-US" dirty="0"/>
              <a:t>Why This System Matters (Management Outcomes)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AE1EC-5D78-5AD4-1351-10CFBB02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execution: Clear ownership, fewer dropped balls</a:t>
            </a:r>
          </a:p>
          <a:p>
            <a:r>
              <a:rPr lang="en-US" dirty="0"/>
              <a:t>Cleaner communication: Less Slack noise, fewer email loops</a:t>
            </a:r>
          </a:p>
          <a:p>
            <a:r>
              <a:rPr lang="en-US" dirty="0"/>
              <a:t>Predictable growth engine: Track acquisition → conversion → retention</a:t>
            </a:r>
          </a:p>
          <a:p>
            <a:r>
              <a:rPr lang="en-US" dirty="0"/>
              <a:t>Better decisions: Scoreboard replaces opinions</a:t>
            </a:r>
          </a:p>
          <a:p>
            <a:r>
              <a:rPr lang="en-US" dirty="0"/>
              <a:t>Scalable management layer: Systems that outlive any one person</a:t>
            </a:r>
          </a:p>
          <a:p>
            <a:r>
              <a:rPr lang="en-US" dirty="0"/>
              <a:t>This is not a tool. It’s how we run the business.</a:t>
            </a:r>
          </a:p>
        </p:txBody>
      </p:sp>
    </p:spTree>
    <p:extLst>
      <p:ext uri="{BB962C8B-B14F-4D97-AF65-F5344CB8AC3E}">
        <p14:creationId xmlns:p14="http://schemas.microsoft.com/office/powerpoint/2010/main" val="256290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4513-F8E8-29BE-78DA-727291F5B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42257"/>
            <a:ext cx="8761413" cy="1175657"/>
          </a:xfrm>
        </p:spPr>
        <p:txBody>
          <a:bodyPr/>
          <a:lstStyle/>
          <a:p>
            <a:r>
              <a:rPr lang="en-US" dirty="0"/>
              <a:t>What You Will Stop Doing / Start Doing (By Role)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204A0-20A9-0C57-D8E5-36DFC7711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GM / Leadership</a:t>
            </a:r>
          </a:p>
          <a:p>
            <a:r>
              <a:rPr lang="en-US" dirty="0"/>
              <a:t>Stop: Chasing updates, reacting all day</a:t>
            </a:r>
          </a:p>
          <a:p>
            <a:r>
              <a:rPr lang="en-US" dirty="0"/>
              <a:t>Start: Running a daily/weekly rhythm with clear priorities</a:t>
            </a:r>
          </a:p>
          <a:p>
            <a:pPr marL="0" indent="0">
              <a:buNone/>
            </a:pPr>
            <a:r>
              <a:rPr lang="en-US" dirty="0"/>
              <a:t>Owners</a:t>
            </a:r>
          </a:p>
          <a:p>
            <a:r>
              <a:rPr lang="en-US" dirty="0"/>
              <a:t>Stop: Asking “Where are we on X?”</a:t>
            </a:r>
          </a:p>
          <a:p>
            <a:r>
              <a:rPr lang="en-US" dirty="0"/>
              <a:t>Start: Reviewing a simple scoreboard weekly</a:t>
            </a:r>
          </a:p>
          <a:p>
            <a:pPr marL="0" indent="0">
              <a:buNone/>
            </a:pPr>
            <a:r>
              <a:rPr lang="en-US" dirty="0"/>
              <a:t>Front Desk Leads</a:t>
            </a:r>
          </a:p>
          <a:p>
            <a:r>
              <a:rPr lang="en-US" dirty="0"/>
              <a:t>Stop: Managing tasks in Slack or memory</a:t>
            </a:r>
          </a:p>
          <a:p>
            <a:r>
              <a:rPr lang="en-US" dirty="0"/>
              <a:t>Start: Using Tasks/Projects for ownership + due dates</a:t>
            </a:r>
          </a:p>
          <a:p>
            <a:pPr marL="0" indent="0">
              <a:buNone/>
            </a:pPr>
            <a:r>
              <a:rPr lang="en-US" dirty="0"/>
              <a:t>Teachers / Coaches</a:t>
            </a:r>
          </a:p>
          <a:p>
            <a:r>
              <a:rPr lang="en-US" dirty="0"/>
              <a:t>Stop: Missing updates</a:t>
            </a:r>
          </a:p>
          <a:p>
            <a:r>
              <a:rPr lang="en-US" dirty="0"/>
              <a:t>Start: Checking Dashboard + Inbox for key info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2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E0F25B-3476-0DBE-5B74-33B39D2D0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DAILY &amp; WEEKLY OPERATING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42548A-0EA4-E21F-9ED9-18EA8CA81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3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9AF1-1F20-FB50-43CD-8854E89C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74913"/>
            <a:ext cx="8761413" cy="1110343"/>
          </a:xfrm>
        </p:spPr>
        <p:txBody>
          <a:bodyPr/>
          <a:lstStyle/>
          <a:p>
            <a:r>
              <a:rPr lang="en-US" dirty="0"/>
              <a:t>Management Daily Workflow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3092-7F7F-61B6-E01B-3F58F2370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Start (1 min):</a:t>
            </a:r>
          </a:p>
          <a:p>
            <a:r>
              <a:rPr lang="en-US" dirty="0"/>
              <a:t>Daily Briefing → KPIs, alerts, upcoming commitments</a:t>
            </a:r>
          </a:p>
          <a:p>
            <a:r>
              <a:rPr lang="en-US" dirty="0"/>
              <a:t>Capture (1 min):</a:t>
            </a:r>
          </a:p>
          <a:p>
            <a:r>
              <a:rPr lang="en-US" dirty="0"/>
              <a:t>Inbox → convert messages into tasks</a:t>
            </a:r>
          </a:p>
          <a:p>
            <a:pPr marL="0" indent="0">
              <a:buNone/>
            </a:pPr>
            <a:r>
              <a:rPr lang="en-US" dirty="0"/>
              <a:t>Decide (1 min):</a:t>
            </a:r>
          </a:p>
          <a:p>
            <a:r>
              <a:rPr lang="en-US" dirty="0"/>
              <a:t>Identify Today’s Top 3 must‑win priorities</a:t>
            </a:r>
          </a:p>
          <a:p>
            <a:pPr marL="0" indent="0">
              <a:buNone/>
            </a:pPr>
            <a:r>
              <a:rPr lang="en-US" dirty="0"/>
              <a:t>Block (1 min):</a:t>
            </a:r>
          </a:p>
          <a:p>
            <a:r>
              <a:rPr lang="en-US" dirty="0"/>
              <a:t>Calendar → protect deep‑work blocks</a:t>
            </a:r>
          </a:p>
          <a:p>
            <a:pPr marL="0" indent="0">
              <a:buNone/>
            </a:pPr>
            <a:r>
              <a:rPr lang="en-US" dirty="0"/>
              <a:t>Execute (1 min):</a:t>
            </a:r>
          </a:p>
          <a:p>
            <a:r>
              <a:rPr lang="en-US" dirty="0"/>
              <a:t>Projects → move 1–2 critical rocks forward</a:t>
            </a:r>
          </a:p>
          <a:p>
            <a:r>
              <a:rPr lang="en-US" dirty="0"/>
              <a:t>A simple habit loop that keeps the team aligned.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7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D5CE-1524-F371-07FB-75C63B33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83394"/>
            <a:ext cx="8761413" cy="1087654"/>
          </a:xfrm>
        </p:spPr>
        <p:txBody>
          <a:bodyPr/>
          <a:lstStyle/>
          <a:p>
            <a:r>
              <a:rPr lang="en-US" dirty="0"/>
              <a:t>Weekly Operating Rhythm (60–90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DC32-32DA-6027-9421-C5602512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Scoreboard Review:</a:t>
            </a:r>
          </a:p>
          <a:p>
            <a:r>
              <a:rPr lang="en-US" dirty="0"/>
              <a:t>8–12 metrics that show the health of the business</a:t>
            </a:r>
          </a:p>
          <a:p>
            <a:pPr marL="0" indent="0">
              <a:buNone/>
            </a:pPr>
            <a:r>
              <a:rPr lang="en-US" dirty="0"/>
              <a:t>Issues List:</a:t>
            </a:r>
          </a:p>
          <a:p>
            <a:r>
              <a:rPr lang="en-US" dirty="0"/>
              <a:t>Identify blockers and root causes</a:t>
            </a:r>
          </a:p>
          <a:p>
            <a:pPr marL="0" indent="0">
              <a:buNone/>
            </a:pPr>
            <a:r>
              <a:rPr lang="en-US" dirty="0"/>
              <a:t>Rocks / Projects:</a:t>
            </a:r>
          </a:p>
          <a:p>
            <a:r>
              <a:rPr lang="en-US" dirty="0"/>
              <a:t>Status, next actions, owners</a:t>
            </a:r>
          </a:p>
          <a:p>
            <a:pPr marL="0" indent="0">
              <a:buNone/>
            </a:pPr>
            <a:r>
              <a:rPr lang="en-US" dirty="0"/>
              <a:t>To‑Do Review:</a:t>
            </a:r>
          </a:p>
          <a:p>
            <a:r>
              <a:rPr lang="en-US" dirty="0"/>
              <a:t>Commitments from last week → done or not done</a:t>
            </a:r>
          </a:p>
          <a:p>
            <a:pPr marL="0" indent="0">
              <a:buNone/>
            </a:pPr>
            <a:r>
              <a:rPr lang="en-US" dirty="0"/>
              <a:t>Decisions:</a:t>
            </a:r>
          </a:p>
          <a:p>
            <a:r>
              <a:rPr lang="en-US" dirty="0"/>
              <a:t>Clear owners + deadlines</a:t>
            </a:r>
          </a:p>
          <a:p>
            <a:r>
              <a:rPr lang="en-US" dirty="0"/>
              <a:t>Predictable accountability → consistent execution.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56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EAA0-1FF8-F2E9-EAA4-57DEDD5DE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the Road (Source of Truth)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0D46D-BB76-2688-AAEB-6C0F25900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Where work lives:</a:t>
            </a:r>
          </a:p>
          <a:p>
            <a:r>
              <a:rPr lang="en-US" dirty="0"/>
              <a:t>Slack = real‑time coordination</a:t>
            </a:r>
          </a:p>
          <a:p>
            <a:r>
              <a:rPr lang="en-US" dirty="0"/>
              <a:t>Inbox = intake + triage</a:t>
            </a:r>
          </a:p>
          <a:p>
            <a:r>
              <a:rPr lang="en-US" dirty="0"/>
              <a:t>Tasks = ownership + due dates</a:t>
            </a:r>
          </a:p>
          <a:p>
            <a:r>
              <a:rPr lang="en-US" dirty="0"/>
              <a:t>Projects = multi‑step initiatives</a:t>
            </a:r>
          </a:p>
          <a:p>
            <a:r>
              <a:rPr lang="en-US" dirty="0"/>
              <a:t>Calendar = commitments + time blocks</a:t>
            </a:r>
          </a:p>
          <a:p>
            <a:pPr marL="0" indent="0">
              <a:buNone/>
            </a:pPr>
            <a:r>
              <a:rPr lang="en-US" dirty="0"/>
              <a:t>Norms:</a:t>
            </a:r>
          </a:p>
          <a:p>
            <a:r>
              <a:rPr lang="en-US" dirty="0"/>
              <a:t>If it has an owner + due date → it must be a task</a:t>
            </a:r>
          </a:p>
          <a:p>
            <a:r>
              <a:rPr lang="en-US" dirty="0"/>
              <a:t>Meetings end with “who / what / by when”</a:t>
            </a:r>
          </a:p>
          <a:p>
            <a:r>
              <a:rPr lang="en-US" dirty="0"/>
              <a:t>Slack is not the archive → tasks/projects 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6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12EE-9759-462F-FCF2-F44B6BF0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Time Norms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C10BA-AB06-6CE2-D3FD-35F16C1D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Urgent (Slack): Immediate or within 1 hour</a:t>
            </a:r>
          </a:p>
          <a:p>
            <a:r>
              <a:rPr lang="en-US" dirty="0"/>
              <a:t>Same Day (Inbox → Tasks): By end of day</a:t>
            </a:r>
          </a:p>
          <a:p>
            <a:r>
              <a:rPr lang="en-US" dirty="0"/>
              <a:t>24–48 Hours (Tasks): Non‑urgent items</a:t>
            </a:r>
          </a:p>
          <a:p>
            <a:r>
              <a:rPr lang="en-US" dirty="0"/>
              <a:t>Weekly (Projects): Progress updates during weekly rhythm</a:t>
            </a:r>
          </a:p>
          <a:p>
            <a:r>
              <a:rPr lang="en-US" dirty="0"/>
              <a:t>Clear expectations reduce noise and interruptions.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489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D762A-E2C0-DE97-8747-67D522774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SETUP &amp; CONFIGURATION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81F099-F52B-BA46-ED25-2290DC4167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81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198B1-5E42-FCF1-7F6F-8CF94B26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Accounts (in order)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3ECA-7710-FFC9-5BDB-484E5D75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86742"/>
            <a:ext cx="8761413" cy="3233057"/>
          </a:xfrm>
        </p:spPr>
        <p:txBody>
          <a:bodyPr/>
          <a:lstStyle/>
          <a:p>
            <a:r>
              <a:rPr lang="en-US" dirty="0"/>
              <a:t>Google Workspace (Gmail + Calendar)</a:t>
            </a:r>
          </a:p>
          <a:p>
            <a:r>
              <a:rPr lang="en-US" dirty="0"/>
              <a:t>Slack</a:t>
            </a:r>
          </a:p>
          <a:p>
            <a:r>
              <a:rPr lang="en-US" dirty="0"/>
              <a:t>Brevo</a:t>
            </a:r>
          </a:p>
          <a:p>
            <a:r>
              <a:rPr lang="en-US" dirty="0" err="1"/>
              <a:t>Typeform</a:t>
            </a:r>
            <a:endParaRPr lang="en-US" dirty="0"/>
          </a:p>
          <a:p>
            <a:r>
              <a:rPr lang="en-US" dirty="0" err="1"/>
              <a:t>Perkville</a:t>
            </a:r>
            <a:endParaRPr lang="en-US" dirty="0"/>
          </a:p>
          <a:p>
            <a:r>
              <a:rPr lang="en-US" dirty="0" err="1"/>
              <a:t>YHCTime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8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837F-192B-0A06-0A5C-D15F989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1367-B32C-C647-1FEA-4AAF69EB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Accounts (in order)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8B5F-F6C7-BB88-2000-D03CACC78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Configure Defaults:</a:t>
            </a:r>
          </a:p>
          <a:p>
            <a:r>
              <a:rPr lang="en-US" dirty="0"/>
              <a:t>Task labels, owners, priorities</a:t>
            </a:r>
          </a:p>
          <a:p>
            <a:r>
              <a:rPr lang="en-US" dirty="0"/>
              <a:t>Project templates</a:t>
            </a:r>
          </a:p>
          <a:p>
            <a:r>
              <a:rPr lang="en-US" dirty="0"/>
              <a:t>Notification preferences</a:t>
            </a:r>
          </a:p>
          <a:p>
            <a:pPr marL="0" indent="0">
              <a:buNone/>
            </a:pPr>
            <a:r>
              <a:rPr lang="en-US" dirty="0"/>
              <a:t>Mobile Setup:</a:t>
            </a:r>
          </a:p>
          <a:p>
            <a:r>
              <a:rPr lang="en-US" dirty="0"/>
              <a:t>Add to Home Screen</a:t>
            </a:r>
          </a:p>
          <a:p>
            <a:r>
              <a:rPr lang="en-US" dirty="0"/>
              <a:t>Enable notifications</a:t>
            </a:r>
          </a:p>
          <a:p>
            <a:r>
              <a:rPr lang="en-US" dirty="0"/>
              <a:t>If something breaks:</a:t>
            </a:r>
          </a:p>
          <a:p>
            <a:r>
              <a:rPr lang="en-US" dirty="0"/>
              <a:t>Re‑auth Google/Slack, check permissions, allow popups</a:t>
            </a:r>
          </a:p>
        </p:txBody>
      </p:sp>
    </p:spTree>
    <p:extLst>
      <p:ext uri="{BB962C8B-B14F-4D97-AF65-F5344CB8AC3E}">
        <p14:creationId xmlns:p14="http://schemas.microsoft.com/office/powerpoint/2010/main" val="3458916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F5E2-D3F5-2D4E-07EE-45FCDC0C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Issues + Quick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5265-46C7-7643-AFB0-E2E7C553B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Gmail not connected → Re‑auth Google</a:t>
            </a:r>
          </a:p>
          <a:p>
            <a:r>
              <a:rPr lang="en-US" dirty="0"/>
              <a:t>Slack channels missing → Update Slack preferences</a:t>
            </a:r>
          </a:p>
          <a:p>
            <a:r>
              <a:rPr lang="en-US" dirty="0"/>
              <a:t>Calendar duplicates → Disable duplicate sources</a:t>
            </a:r>
          </a:p>
          <a:p>
            <a:r>
              <a:rPr lang="en-US" dirty="0"/>
              <a:t>Zoom link missing → Check Zoom integration</a:t>
            </a:r>
          </a:p>
          <a:p>
            <a:r>
              <a:rPr lang="en-US" dirty="0"/>
              <a:t>Mobile not loading → Add to Home Screen, clear cache</a:t>
            </a:r>
          </a:p>
          <a:p>
            <a:r>
              <a:rPr lang="en-US" dirty="0"/>
              <a:t>Chrome extension missing → Pin + re‑auth</a:t>
            </a:r>
          </a:p>
          <a:p>
            <a:r>
              <a:rPr lang="en-US" dirty="0"/>
              <a:t>Pop‑ups blocked → Enable for app domain</a:t>
            </a:r>
          </a:p>
        </p:txBody>
      </p:sp>
    </p:spTree>
    <p:extLst>
      <p:ext uri="{BB962C8B-B14F-4D97-AF65-F5344CB8AC3E}">
        <p14:creationId xmlns:p14="http://schemas.microsoft.com/office/powerpoint/2010/main" val="25367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331F91-8961-3DB7-998F-D4E4FAC50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WORKSPACE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827CF85-DE77-1858-AA19-340628D429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2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54A6-57F4-4B1B-28A5-AD15BE84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B178-82F4-A5F8-3C0A-69449636C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daily command center.</a:t>
            </a:r>
          </a:p>
          <a:p>
            <a:r>
              <a:rPr lang="en-US" dirty="0"/>
              <a:t>Unified feed of emails, Slack messages, and events</a:t>
            </a:r>
          </a:p>
          <a:p>
            <a:r>
              <a:rPr lang="en-US" dirty="0"/>
              <a:t>Upcoming meetings</a:t>
            </a:r>
          </a:p>
          <a:p>
            <a:r>
              <a:rPr lang="en-US" dirty="0"/>
              <a:t>Task summary</a:t>
            </a:r>
          </a:p>
          <a:p>
            <a:r>
              <a:rPr lang="en-US" dirty="0"/>
              <a:t>Quick actions</a:t>
            </a:r>
          </a:p>
          <a:p>
            <a:r>
              <a:rPr lang="en-US" dirty="0"/>
              <a:t>AI Daily Briefing</a:t>
            </a:r>
          </a:p>
          <a:p>
            <a:r>
              <a:rPr lang="en-US" dirty="0"/>
              <a:t>Start here every morning.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02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955B-A570-7D1A-EE91-4F39E7CE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Mailbox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A1CB-46F6-0A97-2DCA-E0E5E0332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communication in one place.</a:t>
            </a:r>
          </a:p>
          <a:p>
            <a:r>
              <a:rPr lang="en-US" dirty="0"/>
              <a:t>Emails + Slack messages in a single feed</a:t>
            </a:r>
          </a:p>
          <a:p>
            <a:r>
              <a:rPr lang="en-US" dirty="0"/>
              <a:t>Click to read, reply, or convert to tasks</a:t>
            </a:r>
          </a:p>
          <a:p>
            <a:r>
              <a:rPr lang="en-US" dirty="0"/>
              <a:t>AI drafting for quick responses</a:t>
            </a:r>
          </a:p>
          <a:p>
            <a:r>
              <a:rPr lang="en-US" dirty="0"/>
              <a:t>Reduces context switching and missed messages.</a:t>
            </a:r>
          </a:p>
        </p:txBody>
      </p:sp>
    </p:spTree>
    <p:extLst>
      <p:ext uri="{BB962C8B-B14F-4D97-AF65-F5344CB8AC3E}">
        <p14:creationId xmlns:p14="http://schemas.microsoft.com/office/powerpoint/2010/main" val="787996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D753B-D3D5-24E8-ED21-7FB01F080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C9F1-9159-D00A-3550-871A1AA16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and reply without opening Gmail</a:t>
            </a:r>
          </a:p>
          <a:p>
            <a:r>
              <a:rPr lang="en-US" dirty="0"/>
              <a:t>Compose new emails</a:t>
            </a:r>
          </a:p>
          <a:p>
            <a:r>
              <a:rPr lang="en-US" dirty="0"/>
              <a:t>AI email drafting</a:t>
            </a:r>
          </a:p>
          <a:p>
            <a:r>
              <a:rPr lang="en-US" dirty="0"/>
              <a:t>Delete → syncs to Gmail trash</a:t>
            </a:r>
          </a:p>
          <a:p>
            <a:pPr marL="0" indent="0">
              <a:buNone/>
            </a:pPr>
            <a:r>
              <a:rPr lang="en-US" dirty="0"/>
              <a:t>Keeps communication inside the workflow.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70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35C0-F4A7-F506-6EA4-0D582E29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6EA2-EA56-90C0-A6EC-AAA9E1741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messages from followed channels</a:t>
            </a:r>
          </a:p>
          <a:p>
            <a:r>
              <a:rPr lang="en-US" dirty="0"/>
              <a:t>Read full threads</a:t>
            </a:r>
          </a:p>
          <a:p>
            <a:r>
              <a:rPr lang="en-US" dirty="0"/>
              <a:t>Customize which channels appear</a:t>
            </a:r>
          </a:p>
          <a:p>
            <a:r>
              <a:rPr lang="en-US" dirty="0"/>
              <a:t>Slack messages also appear in Unified Mailbox</a:t>
            </a:r>
          </a:p>
          <a:p>
            <a:pPr marL="0" indent="0">
              <a:buNone/>
            </a:pPr>
            <a:r>
              <a:rPr lang="en-US" dirty="0"/>
              <a:t>Slack becomes signal, not noise.</a:t>
            </a:r>
          </a:p>
        </p:txBody>
      </p:sp>
    </p:spTree>
    <p:extLst>
      <p:ext uri="{BB962C8B-B14F-4D97-AF65-F5344CB8AC3E}">
        <p14:creationId xmlns:p14="http://schemas.microsoft.com/office/powerpoint/2010/main" val="2103941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DC8E0A-0794-89C5-CDEC-6683B071A6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PLANNING &amp; EXECUTION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285DE8-7C84-05AF-AB4E-4FD2C3F7A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47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2A6B-4E8D-90E3-CA47-8D07B99A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A20B-2E1F-F46B-EC8E-08A27BDC3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calendars unified.</a:t>
            </a:r>
          </a:p>
          <a:p>
            <a:r>
              <a:rPr lang="en-US" dirty="0"/>
              <a:t>Google, Apple, Calendly</a:t>
            </a:r>
          </a:p>
          <a:p>
            <a:r>
              <a:rPr lang="en-US" dirty="0"/>
              <a:t>Month, week, day views</a:t>
            </a:r>
          </a:p>
          <a:p>
            <a:r>
              <a:rPr lang="en-US" dirty="0"/>
              <a:t>Zoom join buttons</a:t>
            </a:r>
          </a:p>
          <a:p>
            <a:r>
              <a:rPr lang="en-US" dirty="0"/>
              <a:t>Color‑coded sources</a:t>
            </a:r>
          </a:p>
          <a:p>
            <a:pPr marL="0" indent="0">
              <a:buNone/>
            </a:pPr>
            <a:r>
              <a:rPr lang="en-US" dirty="0"/>
              <a:t>Your schedule becomes a strategic tool.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72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8B89-C7AD-6BEE-F058-FE5BDFA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E1FEA-0FFB-8740-41C4-3E25C1CBD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tasks</a:t>
            </a:r>
          </a:p>
          <a:p>
            <a:r>
              <a:rPr lang="en-US" dirty="0"/>
              <a:t>Set due dates + priorities</a:t>
            </a:r>
          </a:p>
          <a:p>
            <a:r>
              <a:rPr lang="en-US" dirty="0"/>
              <a:t>Add subtasks</a:t>
            </a:r>
          </a:p>
          <a:p>
            <a:r>
              <a:rPr lang="en-US" dirty="0"/>
              <a:t>Mark complete</a:t>
            </a:r>
          </a:p>
          <a:p>
            <a:r>
              <a:rPr lang="en-US" dirty="0"/>
              <a:t>AI auto‑prioritization</a:t>
            </a:r>
          </a:p>
          <a:p>
            <a:r>
              <a:rPr lang="en-US" dirty="0"/>
              <a:t>Tasks = ownership +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275100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66A7-5A24-6C8D-988C-A5EE23C2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AC62-0EC0-89D8-8B6A-195774F25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dates + reminders</a:t>
            </a:r>
          </a:p>
          <a:p>
            <a:r>
              <a:rPr lang="en-US" dirty="0"/>
              <a:t>Priorities</a:t>
            </a:r>
          </a:p>
          <a:p>
            <a:r>
              <a:rPr lang="en-US" dirty="0"/>
              <a:t>Subtasks</a:t>
            </a:r>
          </a:p>
          <a:p>
            <a:r>
              <a:rPr lang="en-US" dirty="0"/>
              <a:t>Assignments</a:t>
            </a:r>
          </a:p>
          <a:p>
            <a:r>
              <a:rPr lang="en-US" dirty="0"/>
              <a:t>Recurring tasks</a:t>
            </a:r>
          </a:p>
          <a:p>
            <a:r>
              <a:rPr lang="en-US" dirty="0"/>
              <a:t>Comments</a:t>
            </a:r>
          </a:p>
          <a:p>
            <a:r>
              <a:rPr lang="en-US" dirty="0"/>
              <a:t>Asana sync</a:t>
            </a:r>
          </a:p>
          <a:p>
            <a:pPr marL="0" indent="0">
              <a:buNone/>
            </a:pPr>
            <a:r>
              <a:rPr lang="en-US" dirty="0"/>
              <a:t>Everything assigned lives here.</a:t>
            </a:r>
          </a:p>
        </p:txBody>
      </p:sp>
    </p:spTree>
    <p:extLst>
      <p:ext uri="{BB962C8B-B14F-4D97-AF65-F5344CB8AC3E}">
        <p14:creationId xmlns:p14="http://schemas.microsoft.com/office/powerpoint/2010/main" val="3065650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8D7C-FA1B-ABF3-A8B3-BE371019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131B-E262-A204-16DD-78EC4ABE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projects</a:t>
            </a:r>
          </a:p>
          <a:p>
            <a:r>
              <a:rPr lang="en-US" dirty="0"/>
              <a:t>Add columns (To Do, In Progress, Done)</a:t>
            </a:r>
          </a:p>
          <a:p>
            <a:r>
              <a:rPr lang="en-US" dirty="0"/>
              <a:t>Add tasks</a:t>
            </a:r>
          </a:p>
          <a:p>
            <a:r>
              <a:rPr lang="en-US" dirty="0"/>
              <a:t>Drag + drop</a:t>
            </a:r>
          </a:p>
          <a:p>
            <a:r>
              <a:rPr lang="en-US" dirty="0"/>
              <a:t>Import from Asana</a:t>
            </a:r>
          </a:p>
          <a:p>
            <a:pPr marL="0" indent="0">
              <a:buNone/>
            </a:pPr>
            <a:r>
              <a:rPr lang="en-US" dirty="0"/>
              <a:t>Projects = multi‑step initiatives.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79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4F6B-7052-14D5-3C63-5447B168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1AFE-93F3-BB34-5712-DD4D29569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Kanban boards</a:t>
            </a:r>
          </a:p>
          <a:p>
            <a:r>
              <a:rPr lang="en-US" dirty="0"/>
              <a:t>Custom columns</a:t>
            </a:r>
          </a:p>
          <a:p>
            <a:r>
              <a:rPr lang="en-US" dirty="0"/>
              <a:t>Task details + comments</a:t>
            </a:r>
          </a:p>
          <a:p>
            <a:r>
              <a:rPr lang="en-US" dirty="0"/>
              <a:t>Subtasks</a:t>
            </a:r>
          </a:p>
          <a:p>
            <a:r>
              <a:rPr lang="en-US" dirty="0"/>
              <a:t>Asana import</a:t>
            </a:r>
          </a:p>
          <a:p>
            <a:pPr marL="0" indent="0">
              <a:buNone/>
            </a:pPr>
            <a:r>
              <a:rPr lang="en-US" dirty="0"/>
              <a:t>Keeps major initiatives moving.</a:t>
            </a:r>
          </a:p>
        </p:txBody>
      </p:sp>
    </p:spTree>
    <p:extLst>
      <p:ext uri="{BB962C8B-B14F-4D97-AF65-F5344CB8AC3E}">
        <p14:creationId xmlns:p14="http://schemas.microsoft.com/office/powerpoint/2010/main" val="2903259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EB8CA3-7000-1D59-5344-43B0F9C5A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PRODUCTIVITY SUITE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7C35FC-84C4-17F3-2C8D-084418261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3331-BD40-240B-4495-E8AEBD11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AI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9C944-AEA2-A0CC-A4B1-B9939A9FF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Daily Briefing</a:t>
            </a:r>
          </a:p>
          <a:p>
            <a:r>
              <a:rPr lang="en-US" dirty="0"/>
              <a:t>Smart Search (</a:t>
            </a:r>
            <a:r>
              <a:rPr lang="en-US" dirty="0" err="1"/>
              <a:t>Cmd</a:t>
            </a:r>
            <a:r>
              <a:rPr lang="en-US" dirty="0"/>
              <a:t>/Ctrl + K)</a:t>
            </a:r>
          </a:p>
          <a:p>
            <a:r>
              <a:rPr lang="en-US" dirty="0"/>
              <a:t>Task extraction</a:t>
            </a:r>
          </a:p>
          <a:p>
            <a:r>
              <a:rPr lang="en-US" dirty="0"/>
              <a:t>Email drafting</a:t>
            </a:r>
          </a:p>
          <a:p>
            <a:pPr marL="0" indent="0">
              <a:buNone/>
            </a:pPr>
            <a:r>
              <a:rPr lang="en-US" dirty="0"/>
              <a:t>AI becomes your management co‑pilot.</a:t>
            </a:r>
          </a:p>
        </p:txBody>
      </p:sp>
    </p:spTree>
    <p:extLst>
      <p:ext uri="{BB962C8B-B14F-4D97-AF65-F5344CB8AC3E}">
        <p14:creationId xmlns:p14="http://schemas.microsoft.com/office/powerpoint/2010/main" val="1279252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C785-F992-33A9-7BF7-447ED179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3EF9-7F7C-F0F5-41FC-93B8ED2C4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Daily Briefing</a:t>
            </a:r>
          </a:p>
          <a:p>
            <a:r>
              <a:rPr lang="en-US" dirty="0"/>
              <a:t>Smart Search</a:t>
            </a:r>
          </a:p>
          <a:p>
            <a:r>
              <a:rPr lang="en-US" dirty="0"/>
              <a:t>Email drafting</a:t>
            </a:r>
          </a:p>
          <a:p>
            <a:r>
              <a:rPr lang="en-US" dirty="0"/>
              <a:t>Task extraction</a:t>
            </a:r>
          </a:p>
          <a:p>
            <a:r>
              <a:rPr lang="en-US" dirty="0"/>
              <a:t>Calendar optimization</a:t>
            </a:r>
          </a:p>
          <a:p>
            <a:r>
              <a:rPr lang="en-US" dirty="0"/>
              <a:t>Task prioritization</a:t>
            </a:r>
          </a:p>
          <a:p>
            <a:r>
              <a:rPr lang="en-US" dirty="0"/>
              <a:t>AI Summaries</a:t>
            </a:r>
          </a:p>
          <a:p>
            <a:pPr marL="0" indent="0">
              <a:buNone/>
            </a:pPr>
            <a:r>
              <a:rPr lang="en-US" dirty="0"/>
              <a:t>Work smarter, not harder.</a:t>
            </a:r>
          </a:p>
        </p:txBody>
      </p:sp>
    </p:spTree>
    <p:extLst>
      <p:ext uri="{BB962C8B-B14F-4D97-AF65-F5344CB8AC3E}">
        <p14:creationId xmlns:p14="http://schemas.microsoft.com/office/powerpoint/2010/main" val="1079561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CA06-6926-770C-B325-22A14EDA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Summarize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43DC9-1751-8088-32B0-0E07A2DF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Paste transcripts, emails, or notes</a:t>
            </a:r>
          </a:p>
          <a:p>
            <a:r>
              <a:rPr lang="en-US" dirty="0"/>
              <a:t>Add context</a:t>
            </a:r>
          </a:p>
          <a:p>
            <a:r>
              <a:rPr lang="en-US" dirty="0"/>
              <a:t>Get structured summaries + action items</a:t>
            </a:r>
          </a:p>
          <a:p>
            <a:pPr marL="0" indent="0">
              <a:buNone/>
            </a:pPr>
            <a:r>
              <a:rPr lang="en-US" dirty="0"/>
              <a:t>Perfect for meetings and long threads.</a:t>
            </a:r>
          </a:p>
        </p:txBody>
      </p:sp>
    </p:spTree>
    <p:extLst>
      <p:ext uri="{BB962C8B-B14F-4D97-AF65-F5344CB8AC3E}">
        <p14:creationId xmlns:p14="http://schemas.microsoft.com/office/powerpoint/2010/main" val="3827026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6FDE31-6DC9-EF40-156E-399538BB0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WORKSPACE TOOLS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03AA48D-BB27-9001-9DE0-76CEA03C06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64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11AF-0332-97A1-25FD-D7E76A76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Workspace Launcher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023EA-54D7-AFBB-7958-CE23B90C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access to your Google files.</a:t>
            </a:r>
          </a:p>
          <a:p>
            <a:r>
              <a:rPr lang="en-US" dirty="0"/>
              <a:t>Google Docs</a:t>
            </a:r>
          </a:p>
          <a:p>
            <a:r>
              <a:rPr lang="en-US" dirty="0"/>
              <a:t>Google Sheets</a:t>
            </a:r>
          </a:p>
          <a:p>
            <a:r>
              <a:rPr lang="en-US" dirty="0"/>
              <a:t>Google Drive</a:t>
            </a:r>
          </a:p>
          <a:p>
            <a:pPr marL="0" indent="0">
              <a:buNone/>
            </a:pPr>
            <a:r>
              <a:rPr lang="en-US" dirty="0"/>
              <a:t>Opens in Google — YHC Way acts as the launcher.</a:t>
            </a:r>
          </a:p>
        </p:txBody>
      </p:sp>
    </p:spTree>
    <p:extLst>
      <p:ext uri="{BB962C8B-B14F-4D97-AF65-F5344CB8AC3E}">
        <p14:creationId xmlns:p14="http://schemas.microsoft.com/office/powerpoint/2010/main" val="4264765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ACDB92-8CD7-4B31-4F5E-73D72BAB1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GROWTH ENGINE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82FA30-20BA-EC97-44BE-7D99DA9AC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619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E389-D90E-B9B5-40D9-8C7C81CD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2203A-4569-58A5-569C-36B9815E0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Acquisition:</a:t>
            </a:r>
          </a:p>
          <a:p>
            <a:pPr lvl="1"/>
            <a:r>
              <a:rPr lang="en-US" dirty="0"/>
              <a:t>Lead sources, referrals, corporate outreach</a:t>
            </a:r>
          </a:p>
          <a:p>
            <a:r>
              <a:rPr lang="en-US" dirty="0"/>
              <a:t>Conversion:</a:t>
            </a:r>
          </a:p>
          <a:p>
            <a:pPr lvl="1"/>
            <a:r>
              <a:rPr lang="en-US" dirty="0"/>
              <a:t>Intro → consult → membership close</a:t>
            </a:r>
          </a:p>
          <a:p>
            <a:r>
              <a:rPr lang="en-US" dirty="0"/>
              <a:t>Retention:</a:t>
            </a:r>
          </a:p>
          <a:p>
            <a:pPr lvl="1"/>
            <a:r>
              <a:rPr lang="en-US" dirty="0"/>
              <a:t>Risk list, outreach cadence, win‑backs</a:t>
            </a:r>
          </a:p>
          <a:p>
            <a:pPr marL="0" indent="0">
              <a:buNone/>
            </a:pPr>
            <a:r>
              <a:rPr lang="en-US" dirty="0"/>
              <a:t>This is how membership grows predictably.</a:t>
            </a:r>
          </a:p>
        </p:txBody>
      </p:sp>
    </p:spTree>
    <p:extLst>
      <p:ext uri="{BB962C8B-B14F-4D97-AF65-F5344CB8AC3E}">
        <p14:creationId xmlns:p14="http://schemas.microsoft.com/office/powerpoint/2010/main" val="527417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BD9E-1DCE-D91D-B85D-BA60750C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Weekly Scoreboard (8–12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9C49-C38E-A1BA-13DB-24B2F983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Active members</a:t>
            </a:r>
          </a:p>
          <a:p>
            <a:r>
              <a:rPr lang="en-US" dirty="0"/>
              <a:t>New members</a:t>
            </a:r>
          </a:p>
          <a:p>
            <a:r>
              <a:rPr lang="en-US" dirty="0"/>
              <a:t>Reactivations</a:t>
            </a:r>
          </a:p>
          <a:p>
            <a:r>
              <a:rPr lang="en-US" dirty="0"/>
              <a:t>Expired</a:t>
            </a:r>
          </a:p>
          <a:p>
            <a:r>
              <a:rPr lang="en-US" dirty="0"/>
              <a:t>Terminated</a:t>
            </a:r>
          </a:p>
          <a:p>
            <a:r>
              <a:rPr lang="en-US" dirty="0"/>
              <a:t>Net adds</a:t>
            </a:r>
          </a:p>
          <a:p>
            <a:r>
              <a:rPr lang="en-US" dirty="0"/>
              <a:t>Intro offers sold</a:t>
            </a:r>
          </a:p>
          <a:p>
            <a:r>
              <a:rPr lang="en-US" dirty="0"/>
              <a:t>Intro → membership conversion %</a:t>
            </a:r>
          </a:p>
          <a:p>
            <a:r>
              <a:rPr lang="en-US" dirty="0"/>
              <a:t>Attendance/utilization (optional)</a:t>
            </a:r>
          </a:p>
          <a:p>
            <a:r>
              <a:rPr lang="en-US" dirty="0"/>
              <a:t>Autopay $ (optional)</a:t>
            </a:r>
          </a:p>
          <a:p>
            <a:pPr marL="0" indent="0">
              <a:buNone/>
            </a:pPr>
            <a:r>
              <a:rPr lang="en-US" dirty="0"/>
              <a:t>The GM’s steering wheel.</a:t>
            </a:r>
          </a:p>
        </p:txBody>
      </p:sp>
    </p:spTree>
    <p:extLst>
      <p:ext uri="{BB962C8B-B14F-4D97-AF65-F5344CB8AC3E}">
        <p14:creationId xmlns:p14="http://schemas.microsoft.com/office/powerpoint/2010/main" val="5238825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D617-DD95-8F12-F433-9C8E438D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Data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2954-4B85-5CCA-AC19-EE9CFFDD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marketing signals in one place.</a:t>
            </a:r>
          </a:p>
          <a:p>
            <a:r>
              <a:rPr lang="en-US" dirty="0"/>
              <a:t>Brevo email analytics</a:t>
            </a:r>
          </a:p>
          <a:p>
            <a:r>
              <a:rPr lang="en-US" dirty="0" err="1"/>
              <a:t>Typeform</a:t>
            </a:r>
            <a:r>
              <a:rPr lang="en-US" dirty="0"/>
              <a:t> responses</a:t>
            </a:r>
          </a:p>
          <a:p>
            <a:r>
              <a:rPr lang="en-US" dirty="0" err="1"/>
              <a:t>Perkville</a:t>
            </a:r>
            <a:r>
              <a:rPr lang="en-US" dirty="0"/>
              <a:t> rewards</a:t>
            </a:r>
          </a:p>
          <a:p>
            <a:pPr marL="0" indent="0">
              <a:buNone/>
            </a:pPr>
            <a:r>
              <a:rPr lang="en-US" dirty="0"/>
              <a:t>See what’s working and where to improve.</a:t>
            </a:r>
          </a:p>
        </p:txBody>
      </p:sp>
    </p:spTree>
    <p:extLst>
      <p:ext uri="{BB962C8B-B14F-4D97-AF65-F5344CB8AC3E}">
        <p14:creationId xmlns:p14="http://schemas.microsoft.com/office/powerpoint/2010/main" val="3616600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33F7-D7A5-D20D-AF53-D2273C78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Offers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83C9B-C668-E8B6-B873-ABC27D55C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 intro offer performance</a:t>
            </a:r>
          </a:p>
          <a:p>
            <a:r>
              <a:rPr lang="en-US" dirty="0"/>
              <a:t>Monitor conversion rates</a:t>
            </a:r>
          </a:p>
          <a:p>
            <a:r>
              <a:rPr lang="en-US" dirty="0"/>
              <a:t>Compare offer types</a:t>
            </a:r>
          </a:p>
          <a:p>
            <a:r>
              <a:rPr lang="en-US" dirty="0"/>
              <a:t>Export data</a:t>
            </a:r>
          </a:p>
          <a:p>
            <a:pPr marL="0" indent="0">
              <a:buNone/>
            </a:pPr>
            <a:r>
              <a:rPr lang="en-US" dirty="0"/>
              <a:t>Turns intro offers into a measurable funnel.</a:t>
            </a:r>
          </a:p>
        </p:txBody>
      </p:sp>
    </p:spTree>
    <p:extLst>
      <p:ext uri="{BB962C8B-B14F-4D97-AF65-F5344CB8AC3E}">
        <p14:creationId xmlns:p14="http://schemas.microsoft.com/office/powerpoint/2010/main" val="1343120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E08B-AABD-8F7A-A3F2-24B7A423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QR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1E56-50BE-2F4B-98C4-386D4F0B4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branded QR codes</a:t>
            </a:r>
          </a:p>
          <a:p>
            <a:r>
              <a:rPr lang="en-US" dirty="0"/>
              <a:t>Customize colors</a:t>
            </a:r>
          </a:p>
          <a:p>
            <a:r>
              <a:rPr lang="en-US" dirty="0"/>
              <a:t>Track scans</a:t>
            </a:r>
          </a:p>
          <a:p>
            <a:pPr marL="0" indent="0">
              <a:buNone/>
            </a:pPr>
            <a:r>
              <a:rPr lang="en-US" dirty="0"/>
              <a:t>Useful for events, signage, and campaigns.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85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B746-D99A-D9CC-3F3A-825CF47E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D3DCA-1423-88EB-F22C-B1DCC1DAD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templates</a:t>
            </a:r>
          </a:p>
          <a:p>
            <a:r>
              <a:rPr lang="en-US" dirty="0"/>
              <a:t>Edit content</a:t>
            </a:r>
          </a:p>
          <a:p>
            <a:r>
              <a:rPr lang="en-US" dirty="0"/>
              <a:t>Preview mobile + desktop</a:t>
            </a:r>
          </a:p>
          <a:p>
            <a:r>
              <a:rPr lang="en-US" dirty="0"/>
              <a:t>Send via Brevo</a:t>
            </a:r>
          </a:p>
          <a:p>
            <a:pPr marL="0" indent="0">
              <a:buNone/>
            </a:pPr>
            <a:r>
              <a:rPr lang="en-US" dirty="0"/>
              <a:t>Create polished marketing emails quickly.</a:t>
            </a:r>
          </a:p>
        </p:txBody>
      </p:sp>
    </p:spTree>
    <p:extLst>
      <p:ext uri="{BB962C8B-B14F-4D97-AF65-F5344CB8AC3E}">
        <p14:creationId xmlns:p14="http://schemas.microsoft.com/office/powerpoint/2010/main" val="2385144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446A-10A4-08C2-521B-2424CFA584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BC14494-560A-DC88-1F1D-5A0B1169C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86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4D71-BCEF-FFCE-E541-8987BB9F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3B6A6-0743-E734-DF20-481804DD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 hours</a:t>
            </a:r>
          </a:p>
          <a:p>
            <a:r>
              <a:rPr lang="en-US" dirty="0"/>
              <a:t>Add notes</a:t>
            </a:r>
          </a:p>
          <a:p>
            <a:r>
              <a:rPr lang="en-US" dirty="0"/>
              <a:t>Edit recent entries</a:t>
            </a:r>
          </a:p>
          <a:p>
            <a:r>
              <a:rPr lang="en-US" dirty="0"/>
              <a:t>Manager view for team hours</a:t>
            </a:r>
          </a:p>
          <a:p>
            <a:pPr marL="0" indent="0">
              <a:buNone/>
            </a:pPr>
            <a:r>
              <a:rPr lang="en-US" dirty="0"/>
              <a:t>Keeps operations clean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24844263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48C791-74FA-14A2-0DED-353A2B8C2D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&amp; GOVERNANCE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12DAE2-6133-E64C-D2B4-D58BFBC41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911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55F0-DD2A-CC7B-91D6-B392E05F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&amp; Repeatable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9786-622F-E9A5-FE42-D4C298089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member follow‑up</a:t>
            </a:r>
          </a:p>
          <a:p>
            <a:r>
              <a:rPr lang="en-US" dirty="0"/>
              <a:t>Cancellation save workflow</a:t>
            </a:r>
          </a:p>
          <a:p>
            <a:r>
              <a:rPr lang="en-US" dirty="0"/>
              <a:t>Teacher onboarding</a:t>
            </a:r>
          </a:p>
          <a:p>
            <a:r>
              <a:rPr lang="en-US" dirty="0"/>
              <a:t>Weekly ops checklist</a:t>
            </a:r>
          </a:p>
          <a:p>
            <a:r>
              <a:rPr lang="en-US" dirty="0"/>
              <a:t>Event launch checklist</a:t>
            </a:r>
          </a:p>
          <a:p>
            <a:pPr marL="0" indent="0">
              <a:buNone/>
            </a:pPr>
            <a:r>
              <a:rPr lang="en-US" dirty="0"/>
              <a:t>Consistency beats heroics.</a:t>
            </a:r>
          </a:p>
        </p:txBody>
      </p:sp>
    </p:spTree>
    <p:extLst>
      <p:ext uri="{BB962C8B-B14F-4D97-AF65-F5344CB8AC3E}">
        <p14:creationId xmlns:p14="http://schemas.microsoft.com/office/powerpoint/2010/main" val="3626926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7E8B-8D5B-F149-1FEA-5B6E047B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Rollout Plan (Management → Staff)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7630-E5C3-AF3A-4956-F15F32F36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1–2: Management only</a:t>
            </a:r>
          </a:p>
          <a:p>
            <a:r>
              <a:rPr lang="en-US" dirty="0"/>
              <a:t>Week 3–4: Front desk + leads</a:t>
            </a:r>
          </a:p>
          <a:p>
            <a:r>
              <a:rPr lang="en-US" dirty="0"/>
              <a:t>Month 2: Broader team</a:t>
            </a:r>
          </a:p>
          <a:p>
            <a:pPr marL="0" indent="0">
              <a:buNone/>
            </a:pPr>
            <a:r>
              <a:rPr lang="en-US" dirty="0"/>
              <a:t>Clean rollout prevents chaos.</a:t>
            </a:r>
          </a:p>
        </p:txBody>
      </p:sp>
    </p:spTree>
    <p:extLst>
      <p:ext uri="{BB962C8B-B14F-4D97-AF65-F5344CB8AC3E}">
        <p14:creationId xmlns:p14="http://schemas.microsoft.com/office/powerpoint/2010/main" val="1709001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8A76-D8F4-9054-2CE1-148377AE9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a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8A29B-CDB0-1AEC-9075-EE43008D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</a:t>
            </a:r>
            <a:r>
              <a:rPr lang="en-US" dirty="0" err="1"/>
              <a:t>ken@yogahealthcenter.com</a:t>
            </a:r>
            <a:endParaRPr lang="en-US" dirty="0"/>
          </a:p>
          <a:p>
            <a:r>
              <a:rPr lang="en-US" dirty="0"/>
              <a:t>Subject: “Feature Request: [Title]”</a:t>
            </a:r>
          </a:p>
          <a:p>
            <a:r>
              <a:rPr lang="en-US" dirty="0"/>
              <a:t>Include: description, why it matters, examples</a:t>
            </a:r>
          </a:p>
          <a:p>
            <a:pPr marL="0" indent="0">
              <a:buNone/>
            </a:pPr>
            <a:r>
              <a:rPr lang="en-US" dirty="0"/>
              <a:t>Or…</a:t>
            </a:r>
          </a:p>
          <a:p>
            <a:pPr marL="0" indent="0">
              <a:buNone/>
            </a:pPr>
            <a:r>
              <a:rPr lang="en-US" dirty="0"/>
              <a:t>Click on the Request a feature button.</a:t>
            </a:r>
          </a:p>
        </p:txBody>
      </p:sp>
    </p:spTree>
    <p:extLst>
      <p:ext uri="{BB962C8B-B14F-4D97-AF65-F5344CB8AC3E}">
        <p14:creationId xmlns:p14="http://schemas.microsoft.com/office/powerpoint/2010/main" val="2292607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443D-6228-8041-16F6-5B76E4F4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a 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2367-0B66-24C1-5AC4-21C92989F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</a:t>
            </a:r>
            <a:r>
              <a:rPr lang="en-US" dirty="0" err="1"/>
              <a:t>ken@yogahealthcenter.com</a:t>
            </a:r>
            <a:endParaRPr lang="en-US" dirty="0"/>
          </a:p>
          <a:p>
            <a:r>
              <a:rPr lang="en-US" dirty="0"/>
              <a:t>Subject: “Bug Report: [Description]”</a:t>
            </a:r>
          </a:p>
          <a:p>
            <a:r>
              <a:rPr lang="en-US" dirty="0"/>
              <a:t>Include: screenshot, steps to reproduce, browser info</a:t>
            </a:r>
          </a:p>
          <a:p>
            <a:pPr marL="0" indent="0">
              <a:buNone/>
            </a:pPr>
            <a:r>
              <a:rPr lang="en-US" dirty="0"/>
              <a:t>Or…</a:t>
            </a:r>
          </a:p>
          <a:p>
            <a:pPr marL="0" indent="0">
              <a:buNone/>
            </a:pPr>
            <a:r>
              <a:rPr lang="en-US" dirty="0"/>
              <a:t>Click on the Report a Bug button</a:t>
            </a:r>
          </a:p>
        </p:txBody>
      </p:sp>
    </p:spTree>
    <p:extLst>
      <p:ext uri="{BB962C8B-B14F-4D97-AF65-F5344CB8AC3E}">
        <p14:creationId xmlns:p14="http://schemas.microsoft.com/office/powerpoint/2010/main" val="20508704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9B9FE3-392C-BC2F-8A2C-82EDBD5DAA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Help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E0C5A4-21CD-221B-9E23-351FA6E79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053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E627-7B0F-9196-48F6-70286CD2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CEFE-27AB-26CE-FEED-68C4F8E5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Setup Guide</a:t>
            </a:r>
          </a:p>
          <a:p>
            <a:r>
              <a:rPr lang="en-US" dirty="0"/>
              <a:t>This presentation</a:t>
            </a:r>
          </a:p>
          <a:p>
            <a:r>
              <a:rPr lang="en-US" dirty="0"/>
              <a:t>Email support</a:t>
            </a:r>
          </a:p>
          <a:p>
            <a:pPr marL="0" indent="0">
              <a:buNone/>
            </a:pPr>
            <a:r>
              <a:rPr lang="en-US" dirty="0"/>
              <a:t>Start with the Setup Guide for common questions.</a:t>
            </a:r>
          </a:p>
        </p:txBody>
      </p:sp>
    </p:spTree>
    <p:extLst>
      <p:ext uri="{BB962C8B-B14F-4D97-AF65-F5344CB8AC3E}">
        <p14:creationId xmlns:p14="http://schemas.microsoft.com/office/powerpoint/2010/main" val="3127722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B3A02-54B9-C229-7C62-155ED6F10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QUICK REFERENCE &amp; CLOSING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BFDD08-40B2-8709-2E54-3FF1E27FC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40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1887-356F-9655-4A91-3696B340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Navigation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71421-5AC3-C4F2-E6D6-7D87FBF3B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Unified Mailbox</a:t>
            </a:r>
          </a:p>
          <a:p>
            <a:r>
              <a:rPr lang="en-US" dirty="0"/>
              <a:t>Calendar</a:t>
            </a:r>
          </a:p>
          <a:p>
            <a:r>
              <a:rPr lang="en-US" dirty="0"/>
              <a:t>Productivity</a:t>
            </a:r>
          </a:p>
          <a:p>
            <a:r>
              <a:rPr lang="en-US" dirty="0"/>
              <a:t>Collaboration</a:t>
            </a:r>
          </a:p>
          <a:p>
            <a:r>
              <a:rPr lang="en-US" dirty="0"/>
              <a:t>Marketing</a:t>
            </a:r>
          </a:p>
          <a:p>
            <a:r>
              <a:rPr lang="en-US" dirty="0"/>
              <a:t>Engage &amp; Automate</a:t>
            </a:r>
          </a:p>
        </p:txBody>
      </p:sp>
    </p:spTree>
    <p:extLst>
      <p:ext uri="{BB962C8B-B14F-4D97-AF65-F5344CB8AC3E}">
        <p14:creationId xmlns:p14="http://schemas.microsoft.com/office/powerpoint/2010/main" val="2714793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93A57-18B3-A170-D886-2076B874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You’re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1D81A-CF91-452D-F9B6-5FECB358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YHC Way</a:t>
            </a:r>
          </a:p>
          <a:p>
            <a:pPr marL="0" indent="0">
              <a:buNone/>
            </a:pPr>
            <a:r>
              <a:rPr lang="en-US" dirty="0"/>
              <a:t>Work unified. Work smarter. Lead the YHC way.</a:t>
            </a:r>
          </a:p>
        </p:txBody>
      </p:sp>
    </p:spTree>
    <p:extLst>
      <p:ext uri="{BB962C8B-B14F-4D97-AF65-F5344CB8AC3E}">
        <p14:creationId xmlns:p14="http://schemas.microsoft.com/office/powerpoint/2010/main" val="673729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DBBC5C-06C9-9639-2D48-4F8EC77BF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0F9FC0-66CD-C885-37A6-C9125482D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534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{BA605C5D-993F-914D-B960-25F60E1939F9}tf10001076</Template>
  <TotalTime>101</TotalTime>
  <Words>1375</Words>
  <Application>Microsoft Macintosh PowerPoint</Application>
  <PresentationFormat>Widescreen</PresentationFormat>
  <Paragraphs>284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Century Gothic</vt:lpstr>
      <vt:lpstr>Wingdings 3</vt:lpstr>
      <vt:lpstr>Ion Boardroom</vt:lpstr>
      <vt:lpstr>SECTION 1 — ORIENTATION &amp; PURPOSE</vt:lpstr>
      <vt:lpstr>The YHC Way</vt:lpstr>
      <vt:lpstr>What Is The YHC Way?</vt:lpstr>
      <vt:lpstr>Why This System Matters (Management Outcomes)</vt:lpstr>
      <vt:lpstr>What You Will Stop Doing / Start Doing (By Role)</vt:lpstr>
      <vt:lpstr>DAILY &amp; WEEKLY OPERATING SYSTEM</vt:lpstr>
      <vt:lpstr>Management Daily Workflow (5 Minutes)</vt:lpstr>
      <vt:lpstr>Weekly Operating Rhythm (60–90 Minutes)</vt:lpstr>
      <vt:lpstr>Rules of the Road (Source of Truth)</vt:lpstr>
      <vt:lpstr>Response Time Norms</vt:lpstr>
      <vt:lpstr>SETUP &amp; CONFIGURATION</vt:lpstr>
      <vt:lpstr>Connect Accounts (in order)</vt:lpstr>
      <vt:lpstr>Connect Accounts (in order)</vt:lpstr>
      <vt:lpstr>Common Issues + Quick Fixes</vt:lpstr>
      <vt:lpstr>CORE WORKSPACE</vt:lpstr>
      <vt:lpstr>Dashboard Overview</vt:lpstr>
      <vt:lpstr>Unified Mailbox</vt:lpstr>
      <vt:lpstr>Email Features</vt:lpstr>
      <vt:lpstr>Slack</vt:lpstr>
      <vt:lpstr>PLANNING &amp; EXECUTION</vt:lpstr>
      <vt:lpstr>Calendar Power</vt:lpstr>
      <vt:lpstr>Managing Tasks</vt:lpstr>
      <vt:lpstr>Task Features</vt:lpstr>
      <vt:lpstr>Managing Projects</vt:lpstr>
      <vt:lpstr>Project Features</vt:lpstr>
      <vt:lpstr>AI PRODUCTIVITY SUITE</vt:lpstr>
      <vt:lpstr>Using the AI Assistant</vt:lpstr>
      <vt:lpstr>AI Features</vt:lpstr>
      <vt:lpstr>AI Summarize Tool</vt:lpstr>
      <vt:lpstr>WORKSPACE TOOLS</vt:lpstr>
      <vt:lpstr>Google Workspace Launcher</vt:lpstr>
      <vt:lpstr>GROWTH ENGINE</vt:lpstr>
      <vt:lpstr>PowerPoint Presentation</vt:lpstr>
      <vt:lpstr> Weekly Scoreboard (8–12 Metrics)</vt:lpstr>
      <vt:lpstr>Marketing Data Hub</vt:lpstr>
      <vt:lpstr>Intro Offers Tracking</vt:lpstr>
      <vt:lpstr>Creating QR Codes</vt:lpstr>
      <vt:lpstr>Email Builder</vt:lpstr>
      <vt:lpstr>OPERATIONS</vt:lpstr>
      <vt:lpstr>Time Tracking</vt:lpstr>
      <vt:lpstr>SUPPORT &amp; GOVERNANCE</vt:lpstr>
      <vt:lpstr>Templates &amp; Repeatable Workflows</vt:lpstr>
      <vt:lpstr>Rollout Plan (Management → Staff)</vt:lpstr>
      <vt:lpstr>Request a Feature</vt:lpstr>
      <vt:lpstr>Report a Bug</vt:lpstr>
      <vt:lpstr>Getting Help</vt:lpstr>
      <vt:lpstr>PowerPoint Presentation</vt:lpstr>
      <vt:lpstr>QUICK REFERENCE &amp; CLOSING</vt:lpstr>
      <vt:lpstr>Quick Navigation Reference</vt:lpstr>
      <vt:lpstr>You’re Ready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Nangle</dc:creator>
  <cp:lastModifiedBy>Ken Nangle</cp:lastModifiedBy>
  <cp:revision>4</cp:revision>
  <dcterms:created xsi:type="dcterms:W3CDTF">2026-01-13T23:10:30Z</dcterms:created>
  <dcterms:modified xsi:type="dcterms:W3CDTF">2026-01-14T00:52:24Z</dcterms:modified>
</cp:coreProperties>
</file>